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6256000" cy="9144000"/>
  <p:notesSz cx="9144000" cy="16256000"/>
  <p:embeddedFontLst>
    <p:embeddedFont>
      <p:font typeface="Liter" charset="-122" pitchFamily="34"/>
      <p:regular r:id="rId30"/>
    </p:embeddedFont>
    <p:embeddedFont>
      <p:font typeface="Quattrocento Sans" charset="-122" pitchFamily="34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font" Target="fonts/font1.fntdata"/><Relationship Id="rId31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Level 5: Autonomic</c:v>
                  </c:pt>
                  <c:pt idx="1">
                    <c:v>Level 4: Adaptive</c:v>
                  </c:pt>
                  <c:pt idx="2">
                    <c:v>Level 3: Predictive</c:v>
                  </c:pt>
                  <c:pt idx="3">
                    <c:v>Level 2: Managed</c:v>
                  </c:pt>
                  <c:pt idx="4">
                    <c:v>Level 1: Basic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(2025)</c:v>
                </c:pt>
              </c:strCache>
            </c:strRef>
          </c:tx>
          <c:spPr>
            <a:solidFill>
              <a:srgbClr val="6B7B8D"/>
            </a:solidFill>
            <a:ln w="25400" cap="flat">
              <a:solidFill>
                <a:srgbClr val="6B7B8D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B7B8D"/>
              </a:solidFill>
              <a:ln w="9525" cap="flat">
                <a:solidFill>
                  <a:srgbClr val="6B7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Autonomic</c:v>
                  </c:pt>
                  <c:pt idx="1">
                    <c:v>IoT</c:v>
                  </c:pt>
                  <c:pt idx="2">
                    <c:v>AI/ML</c:v>
                  </c:pt>
                  <c:pt idx="3">
                    <c:v>5G</c:v>
                  </c:pt>
                  <c:pt idx="4">
                    <c:v>Edge</c:v>
                  </c:pt>
                  <c:pt idx="5">
                    <c:v>Open Source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35</c:v>
                </c:pt>
                <c:pt idx="2">
                  <c:v>25</c:v>
                </c:pt>
                <c:pt idx="3">
                  <c:v>15</c:v>
                </c:pt>
                <c:pt idx="4">
                  <c:v>20</c:v>
                </c:pt>
                <c:pt idx="5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(2030)</c:v>
                </c:pt>
              </c:strCache>
            </c:strRef>
          </c:tx>
          <c:spPr>
            <a:solidFill>
              <a:srgbClr val="D4943A"/>
            </a:solidFill>
            <a:ln w="25400" cap="flat">
              <a:solidFill>
                <a:srgbClr val="D4943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D4943A"/>
              </a:solidFill>
              <a:ln w="9525" cap="flat">
                <a:solidFill>
                  <a:srgbClr val="D494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Autonomic</c:v>
                  </c:pt>
                  <c:pt idx="1">
                    <c:v>IoT</c:v>
                  </c:pt>
                  <c:pt idx="2">
                    <c:v>AI/ML</c:v>
                  </c:pt>
                  <c:pt idx="3">
                    <c:v>5G</c:v>
                  </c:pt>
                  <c:pt idx="4">
                    <c:v>Edge</c:v>
                  </c:pt>
                  <c:pt idx="5">
                    <c:v>Open Source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</c:v>
                </c:pt>
                <c:pt idx="1">
                  <c:v>85</c:v>
                </c:pt>
                <c:pt idx="2">
                  <c:v>80</c:v>
                </c:pt>
                <c:pt idx="3">
                  <c:v>75</c:v>
                </c:pt>
                <c:pt idx="4">
                  <c:v>85</c:v>
                </c:pt>
                <c:pt idx="5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fzgsl2noyfos/mnt/agents/output/autonomic_iot/images/8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628">
                  <a:alpha val="94000"/>
                </a:srgbClr>
              </a:gs>
              <a:gs pos="55000">
                <a:srgbClr val="0A1628">
                  <a:alpha val="82000"/>
                </a:srgbClr>
              </a:gs>
              <a:gs pos="100000">
                <a:srgbClr val="0A1628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4765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27305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46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AUTONOMIC COMPUTING</a:t>
            </a:r>
            <a:endParaRPr lang="en-US" sz="1600" dirty="0"/>
          </a:p>
          <a:p>
            <a:pPr>
              <a:lnSpc>
                <a:spcPct val="115000"/>
              </a:lnSpc>
            </a:pPr>
            <a:r>
              <a:rPr lang="en-US" sz="46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INTERNET OF THINGS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6000" y="45720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Principles, Architecture, IoT Integration, and the Ethiopian Digital Landscape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6604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Addis Ababa University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College of Technology and Built Environment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3 | Instructor: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Mr. Hafte Abera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906000" y="6604000"/>
            <a:ext cx="533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>
              <a:lnSpc>
                <a:spcPct val="150000"/>
              </a:lnSpc>
            </a:pPr>
            <a:r>
              <a:rPr lang="en-US" sz="1400" i="1" dirty="0">
                <a:solidFill>
                  <a:srgbClr val="6A7B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complexity of IT systems has grown to the point where we risk losing control of them. Autonomic computing is the answer."</a:t>
            </a:r>
            <a:endParaRPr lang="en-US" sz="1600" dirty="0"/>
          </a:p>
          <a:p>
            <a:pPr algn="r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A7B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Paul Horn, IBM Research, 2001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795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1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Foundations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2946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 crisis, biological inspiration, IBM initiative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68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368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MAPE-K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408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loop, self-managing properties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82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482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Platforms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5232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AWS, Azure, Google, IBM, FIWARE, Eclipse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2540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71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Ethiopia's Digital Journey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0" y="2946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ICT timeline, IoT initiatives, platform adoption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368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71000" y="368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Future Directions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71000" y="4089400"/>
            <a:ext cx="622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Barriers, opportunities, case studies, recommendations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74000" y="2540000"/>
            <a:ext cx="12700" cy="2921000"/>
          </a:xfrm>
          <a:prstGeom prst="rect">
            <a:avLst/>
          </a:prstGeom>
          <a:solidFill>
            <a:srgbClr val="D0D5D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869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AAU | CTBE | Autonomic Computing &amp; IoT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995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fzgsl2noyfos/mnt/agents/output/autonomic_iot/images/3_Modern_Data_Center_Server_Room_Corridor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628">
                  <a:alpha val="91000"/>
                </a:srgbClr>
              </a:gs>
              <a:gs pos="50000">
                <a:srgbClr val="0A1628">
                  <a:alpha val="82000"/>
                </a:srgbClr>
              </a:gs>
              <a:gs pos="100000">
                <a:srgbClr val="0A1628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286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588000" y="393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445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FOUNDATIONS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83000" y="5334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complexity crisis to self-managing systems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3000" y="5969000"/>
            <a:ext cx="1270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Complexity Crisis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60500"/>
            <a:ext cx="8128000" cy="387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computing environments have grown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extraordinarily complex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Organizations operate thousands of interconnected devices, servers, and cloud services 24/7.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the late 1990s, managing systems had begun to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outpace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hardware costs: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60-80%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IT expenditure went to system administration.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Systems became brittle and vulnerable — IBM called this the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"complexity crisis."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98000" y="1460500"/>
            <a:ext cx="6096000" cy="1651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8" name="Text 6"/>
          <p:cNvSpPr/>
          <p:nvPr/>
        </p:nvSpPr>
        <p:spPr>
          <a:xfrm>
            <a:off x="9652000" y="1587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60-80%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652000" y="2349500"/>
            <a:ext cx="558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of IT expenditure spent on system administration by the late 1990s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98000" y="3365500"/>
            <a:ext cx="6096000" cy="1778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1" name="Shape 9"/>
          <p:cNvSpPr/>
          <p:nvPr/>
        </p:nvSpPr>
        <p:spPr>
          <a:xfrm>
            <a:off x="9652000" y="355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10185400" y="3530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Biological Inspiration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52000" y="40005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human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autonomic nervous system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regulates heartbeat, breathing, and digestion without conscious effort. Paul Horn proposed computing systems should work the same way.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524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"Computing systems should manage themselves according to high-level goals set by humans, while handling all operational details on their own."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Paul Horn, IBM Research Director, 2001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IBM's Autonomic Computing Initiative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60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8034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Autonomic Computing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computing model in which IT systems manage themselves using high-level objectives defined by administrators, reducing the need for direct human intervention. Coined by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IBM in 2001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drawing analogy from the autonomic nervous system.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3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Global Milestones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200400"/>
          <a:ext cx="14732000" cy="5080000"/>
        </p:xfrm>
        <a:graphic>
          <a:graphicData uri="http://schemas.openxmlformats.org/drawingml/2006/table">
            <a:tbl>
              <a:tblPr/>
              <a:tblGrid>
                <a:gridCol w="1473200"/>
                <a:gridCol w="132588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Milestone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Paul Horn (IBM) publishes the Autonomic Computing manifesto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2003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IBM launches Autonomic Computing Toolkit and research framework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2004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First IEEE International Conference on Autonomic Computing held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2007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Cloud computing emerges; autonomic principles adopted in orchestration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Machine learning begins enhancing autonomic decision-making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Kubernetes introduces self-healing container orchestration at scale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AIOps emerges as the modern commercial realization of autonomic computing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 language models begin augmenting traditional MAPE-K decision loops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Agentic AI systems with full autonomic properties deployed across enterprise and IoT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fzgsl2noyfos/mnt/agents/output/autonomic_iot/images/5_Abstract_artificial_intelligence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628">
                  <a:alpha val="91000"/>
                </a:srgbClr>
              </a:gs>
              <a:gs pos="50000">
                <a:srgbClr val="0A1628">
                  <a:alpha val="82000"/>
                </a:srgbClr>
              </a:gs>
              <a:gs pos="100000">
                <a:srgbClr val="0A1628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286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588000" y="393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445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MAPE-K 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5334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engine of every autonomic computing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3000" y="5969000"/>
            <a:ext cx="1270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MAPE-K Control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2794000" cy="2540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87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2606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26416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Collects data from sensors: CPU, memory, network latency, health indicators, security events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56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937000" y="1498600"/>
            <a:ext cx="2794000" cy="2540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3937000" y="1587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7000" y="22606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4000" y="26416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Examines data using thresholds, statistical analysis, ML models, root cause analysis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31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112000" y="1498600"/>
            <a:ext cx="2794000" cy="2540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7" name="Text 15"/>
          <p:cNvSpPr/>
          <p:nvPr/>
        </p:nvSpPr>
        <p:spPr>
          <a:xfrm>
            <a:off x="7112000" y="1587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12000" y="22606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39000" y="26416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Decides best response via policies, optimization algorithms, coordinating with neighboring managers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0" y="2667000"/>
            <a:ext cx="381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287000" y="1498600"/>
            <a:ext cx="2794000" cy="2540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10287000" y="1587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87000" y="22606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14000" y="26416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Carries out plans through actuators: VMs, load balancing, patches, firewall rules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159000" y="4038600"/>
            <a:ext cx="9652000" cy="5080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ysDot"/>
            <a:headEnd type="arrow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5588000" y="4127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208000" y="1498600"/>
            <a:ext cx="2286000" cy="254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13208000" y="1587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08000" y="22606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335000" y="26416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repository: policies, models, historical logs, learned patterns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351000" y="4038600"/>
            <a:ext cx="0" cy="381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762000" y="469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5143500"/>
            <a:ext cx="1473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MAPE-K loop runs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forming a closed-loop control mechanism. Each autonomic element runs its own control loop: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collect data about system state and environment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engines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spot problems or opportunities in the data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Planning modules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decide the best course of action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Actuators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execute the plan through software or hardware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Base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stores everything and improves over time — the system learns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 Self-Managing Properties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7175500" cy="1714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7" name="Shape 5"/>
          <p:cNvSpPr/>
          <p:nvPr/>
        </p:nvSpPr>
        <p:spPr>
          <a:xfrm>
            <a:off x="942975" y="16764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Self-Configuration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0955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configures itself when environment changes. New servers get provisioned with correct OS and software. IoT devices receive IP, certificates, and settings via zero-touch provisioning.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498600"/>
            <a:ext cx="7175500" cy="1714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1" name="Shape 9"/>
          <p:cNvSpPr/>
          <p:nvPr/>
        </p:nvSpPr>
        <p:spPr>
          <a:xfrm>
            <a:off x="8547100" y="1676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80293"/>
                </a:moveTo>
                <a:lnTo>
                  <a:pt x="179338" y="64815"/>
                </a:lnTo>
                <a:cubicBezTo>
                  <a:pt x="160734" y="39067"/>
                  <a:pt x="130894" y="23812"/>
                  <a:pt x="99045" y="23812"/>
                </a:cubicBezTo>
                <a:cubicBezTo>
                  <a:pt x="44351" y="23812"/>
                  <a:pt x="0" y="68163"/>
                  <a:pt x="0" y="122858"/>
                </a:cubicBezTo>
                <a:lnTo>
                  <a:pt x="0" y="124792"/>
                </a:lnTo>
                <a:cubicBezTo>
                  <a:pt x="0" y="142354"/>
                  <a:pt x="4614" y="160511"/>
                  <a:pt x="12353" y="178594"/>
                </a:cubicBezTo>
                <a:lnTo>
                  <a:pt x="91232" y="178594"/>
                </a:lnTo>
                <a:cubicBezTo>
                  <a:pt x="93613" y="178594"/>
                  <a:pt x="95771" y="177180"/>
                  <a:pt x="96738" y="174947"/>
                </a:cubicBezTo>
                <a:lnTo>
                  <a:pt x="120402" y="118170"/>
                </a:lnTo>
                <a:cubicBezTo>
                  <a:pt x="123155" y="111621"/>
                  <a:pt x="129555" y="107305"/>
                  <a:pt x="136624" y="107156"/>
                </a:cubicBezTo>
                <a:cubicBezTo>
                  <a:pt x="143694" y="107007"/>
                  <a:pt x="150242" y="111175"/>
                  <a:pt x="153144" y="117649"/>
                </a:cubicBezTo>
                <a:lnTo>
                  <a:pt x="191319" y="202406"/>
                </a:lnTo>
                <a:lnTo>
                  <a:pt x="222126" y="140791"/>
                </a:lnTo>
                <a:cubicBezTo>
                  <a:pt x="225177" y="134764"/>
                  <a:pt x="231353" y="130894"/>
                  <a:pt x="238125" y="130894"/>
                </a:cubicBezTo>
                <a:cubicBezTo>
                  <a:pt x="244897" y="130894"/>
                  <a:pt x="251073" y="134689"/>
                  <a:pt x="254124" y="140791"/>
                </a:cubicBezTo>
                <a:lnTo>
                  <a:pt x="271388" y="175245"/>
                </a:lnTo>
                <a:cubicBezTo>
                  <a:pt x="272430" y="177254"/>
                  <a:pt x="274439" y="178519"/>
                  <a:pt x="276746" y="178519"/>
                </a:cubicBezTo>
                <a:lnTo>
                  <a:pt x="368722" y="178519"/>
                </a:lnTo>
                <a:cubicBezTo>
                  <a:pt x="376535" y="160437"/>
                  <a:pt x="381074" y="142280"/>
                  <a:pt x="381074" y="124718"/>
                </a:cubicBezTo>
                <a:lnTo>
                  <a:pt x="381074" y="122783"/>
                </a:lnTo>
                <a:cubicBezTo>
                  <a:pt x="381000" y="68163"/>
                  <a:pt x="336649" y="23812"/>
                  <a:pt x="281955" y="23812"/>
                </a:cubicBezTo>
                <a:cubicBezTo>
                  <a:pt x="250180" y="23812"/>
                  <a:pt x="220266" y="39067"/>
                  <a:pt x="201662" y="64815"/>
                </a:cubicBezTo>
                <a:lnTo>
                  <a:pt x="190500" y="80218"/>
                </a:lnTo>
                <a:close/>
                <a:moveTo>
                  <a:pt x="349448" y="214313"/>
                </a:moveTo>
                <a:lnTo>
                  <a:pt x="276671" y="214313"/>
                </a:lnTo>
                <a:cubicBezTo>
                  <a:pt x="260896" y="214313"/>
                  <a:pt x="246459" y="205383"/>
                  <a:pt x="239390" y="191244"/>
                </a:cubicBezTo>
                <a:lnTo>
                  <a:pt x="238125" y="188714"/>
                </a:lnTo>
                <a:lnTo>
                  <a:pt x="206499" y="252040"/>
                </a:lnTo>
                <a:cubicBezTo>
                  <a:pt x="203448" y="258217"/>
                  <a:pt x="197048" y="262086"/>
                  <a:pt x="190128" y="261938"/>
                </a:cubicBezTo>
                <a:cubicBezTo>
                  <a:pt x="183207" y="261789"/>
                  <a:pt x="177031" y="257696"/>
                  <a:pt x="174203" y="251445"/>
                </a:cubicBezTo>
                <a:lnTo>
                  <a:pt x="137517" y="169962"/>
                </a:lnTo>
                <a:lnTo>
                  <a:pt x="129704" y="188714"/>
                </a:lnTo>
                <a:cubicBezTo>
                  <a:pt x="123230" y="204267"/>
                  <a:pt x="108049" y="214387"/>
                  <a:pt x="91232" y="214387"/>
                </a:cubicBezTo>
                <a:lnTo>
                  <a:pt x="31552" y="214387"/>
                </a:lnTo>
                <a:cubicBezTo>
                  <a:pt x="66675" y="269304"/>
                  <a:pt x="123081" y="319832"/>
                  <a:pt x="158353" y="346770"/>
                </a:cubicBezTo>
                <a:cubicBezTo>
                  <a:pt x="167580" y="353764"/>
                  <a:pt x="178891" y="357262"/>
                  <a:pt x="190426" y="357262"/>
                </a:cubicBezTo>
                <a:cubicBezTo>
                  <a:pt x="201960" y="357262"/>
                  <a:pt x="213345" y="353839"/>
                  <a:pt x="222498" y="346770"/>
                </a:cubicBezTo>
                <a:cubicBezTo>
                  <a:pt x="257919" y="319757"/>
                  <a:pt x="314325" y="269230"/>
                  <a:pt x="349448" y="214313"/>
                </a:cubicBez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90551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Self-Healing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47100" y="20955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Detects, diagnoses, and recovers from faults automatically. Crashed microservices restart via orchestrators. Corrupted database replicas rebuild from healthy copies. Failed network paths trigger instant failover.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467100"/>
            <a:ext cx="7175500" cy="1714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364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" y="361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Self-Optimization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40640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monitors performance and tunes resources. Auto-scaling adds VMs during busy periods. CDNs shift cached content closer to users. AI energy management learns occupancy patterns to cut consumption.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18500" y="3467100"/>
            <a:ext cx="7175500" cy="1714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547100" y="364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20" name="Text 18"/>
          <p:cNvSpPr/>
          <p:nvPr/>
        </p:nvSpPr>
        <p:spPr>
          <a:xfrm>
            <a:off x="9055100" y="361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Self-Protection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47100" y="4064000"/>
            <a:ext cx="673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and repels attacks while isolating failures. IDS automatically updates firewall rules. Circuit breakers isolate failing microservices. IoT gateways quarantine misbehaving devices from the network.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46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Extended Self-* Properties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943600"/>
          <a:ext cx="14732000" cy="2540000"/>
        </p:xfrm>
        <a:graphic>
          <a:graphicData uri="http://schemas.openxmlformats.org/drawingml/2006/table">
            <a:tbl>
              <a:tblPr/>
              <a:tblGrid>
                <a:gridCol w="3683000"/>
                <a:gridCol w="11049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Self-Awareness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system understands its own components, capabilities, and current state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Self-Anticipation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Predicts future states and acts before problems arise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Self-Organizing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Dynamically restructures itself as conditions change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Self-Describing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explain its own behavior and decisions to human operators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fzgsl2noyfos/mnt/agents/output/autonomic_iot/images/6_Smart_City_Iot_Network_and_Cloud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628">
                  <a:alpha val="91000"/>
                </a:srgbClr>
              </a:gs>
              <a:gs pos="50000">
                <a:srgbClr val="0A1628">
                  <a:alpha val="82000"/>
                </a:srgbClr>
              </a:gs>
              <a:gs pos="100000">
                <a:srgbClr val="0A1628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286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588000" y="393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4445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PLATFORMS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5334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autonomic principles power the world's leading IoT platforms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3000" y="5969000"/>
            <a:ext cx="1270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Autonomic Principles Are Essential for IoT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real-world IoT deployment can involve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heterogeneous devices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spread across geographically distributed locations, generating continuous data streams. Manual management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just impractical — it is impossible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1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 REQUIREMENTS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3429000" cy="2286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9" name="Shape 7"/>
          <p:cNvSpPr/>
          <p:nvPr/>
        </p:nvSpPr>
        <p:spPr>
          <a:xfrm>
            <a:off x="9906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492500"/>
            <a:ext cx="298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Discovery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8354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devices must be discovered and configured automatically without manual setup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08500" y="2857500"/>
            <a:ext cx="3429000" cy="2286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371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4737100" y="3492500"/>
            <a:ext cx="298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Decision-Making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37100" y="38354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gateways run local decision loops without waiting for cloud instructions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2857500"/>
            <a:ext cx="3429000" cy="2286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7" name="Shape 15"/>
          <p:cNvSpPr/>
          <p:nvPr/>
        </p:nvSpPr>
        <p:spPr>
          <a:xfrm>
            <a:off x="8461375" y="304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3794" y="68481"/>
                </a:moveTo>
                <a:cubicBezTo>
                  <a:pt x="359073" y="63202"/>
                  <a:pt x="367893" y="64522"/>
                  <a:pt x="370532" y="71467"/>
                </a:cubicBezTo>
                <a:cubicBezTo>
                  <a:pt x="375255" y="83760"/>
                  <a:pt x="377825" y="97165"/>
                  <a:pt x="377825" y="111125"/>
                </a:cubicBezTo>
                <a:cubicBezTo>
                  <a:pt x="377825" y="172522"/>
                  <a:pt x="328097" y="222250"/>
                  <a:pt x="266700" y="222250"/>
                </a:cubicBezTo>
                <a:cubicBezTo>
                  <a:pt x="254546" y="222250"/>
                  <a:pt x="242808" y="220305"/>
                  <a:pt x="231835" y="216694"/>
                </a:cubicBezTo>
                <a:lnTo>
                  <a:pt x="102027" y="346502"/>
                </a:lnTo>
                <a:cubicBezTo>
                  <a:pt x="82510" y="366018"/>
                  <a:pt x="50840" y="366018"/>
                  <a:pt x="31323" y="346502"/>
                </a:cubicBezTo>
                <a:cubicBezTo>
                  <a:pt x="11807" y="326985"/>
                  <a:pt x="11807" y="295315"/>
                  <a:pt x="31323" y="275798"/>
                </a:cubicBezTo>
                <a:lnTo>
                  <a:pt x="161131" y="145990"/>
                </a:lnTo>
                <a:cubicBezTo>
                  <a:pt x="157520" y="135017"/>
                  <a:pt x="155575" y="123349"/>
                  <a:pt x="155575" y="111125"/>
                </a:cubicBezTo>
                <a:cubicBezTo>
                  <a:pt x="155575" y="49728"/>
                  <a:pt x="205303" y="0"/>
                  <a:pt x="266700" y="0"/>
                </a:cubicBezTo>
                <a:cubicBezTo>
                  <a:pt x="280660" y="0"/>
                  <a:pt x="294065" y="2570"/>
                  <a:pt x="306358" y="7293"/>
                </a:cubicBezTo>
                <a:cubicBezTo>
                  <a:pt x="313303" y="9932"/>
                  <a:pt x="314553" y="18752"/>
                  <a:pt x="309344" y="24031"/>
                </a:cubicBezTo>
                <a:lnTo>
                  <a:pt x="247739" y="85636"/>
                </a:lnTo>
                <a:cubicBezTo>
                  <a:pt x="245656" y="87719"/>
                  <a:pt x="244475" y="90567"/>
                  <a:pt x="244475" y="93484"/>
                </a:cubicBezTo>
                <a:lnTo>
                  <a:pt x="244475" y="122238"/>
                </a:lnTo>
                <a:cubicBezTo>
                  <a:pt x="244475" y="128349"/>
                  <a:pt x="249476" y="133350"/>
                  <a:pt x="255588" y="133350"/>
                </a:cubicBezTo>
                <a:lnTo>
                  <a:pt x="284341" y="133350"/>
                </a:lnTo>
                <a:cubicBezTo>
                  <a:pt x="287258" y="133350"/>
                  <a:pt x="290106" y="132169"/>
                  <a:pt x="292189" y="130086"/>
                </a:cubicBezTo>
                <a:lnTo>
                  <a:pt x="353794" y="68481"/>
                </a:ln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8483600" y="3492500"/>
            <a:ext cx="298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Maintenance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3600" y="38354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data feeds predictive models to catch equipment failures before they happen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01500" y="2857500"/>
            <a:ext cx="3492500" cy="2286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301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2" y="286494"/>
                </a:moveTo>
                <a:lnTo>
                  <a:pt x="69106" y="100568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0"/>
                  <a:pt x="104180" y="311150"/>
                  <a:pt x="177800" y="311150"/>
                </a:cubicBezTo>
                <a:cubicBezTo>
                  <a:pt x="206623" y="311150"/>
                  <a:pt x="233293" y="302052"/>
                  <a:pt x="255032" y="286494"/>
                </a:cubicBezTo>
                <a:close/>
                <a:moveTo>
                  <a:pt x="286494" y="255032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80"/>
                  <a:pt x="251420" y="44450"/>
                  <a:pt x="177800" y="44450"/>
                </a:cubicBezTo>
                <a:cubicBezTo>
                  <a:pt x="148977" y="44450"/>
                  <a:pt x="122307" y="53548"/>
                  <a:pt x="100568" y="69106"/>
                </a:cubicBezTo>
                <a:lnTo>
                  <a:pt x="286494" y="255032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12230100" y="34925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Isolation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30100" y="38354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Misbehaving devices are isolated automatically before causing wider damage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546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Autonomic Computing Architecture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9436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autonomic system is organized into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distinct layers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&amp; Goal Layer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Human-facing interface for high-level objectives and SLAs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Orchestration Layer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Coordinates multiple autonomic managers, resolves conflicts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Autonomic Element Layer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Individual managers, each running its own MAPE-K loop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Touchpoints Layer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Standardized interfaces and APIs for manager-resource interaction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Managed Resources Layer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Physical and virtual resources: servers, networks, databases, IoT devices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IoT Platforms Deep Dive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4826000" cy="2222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60500"/>
            <a:ext cx="4826000" cy="381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14605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IoT Greengrass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2016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30400"/>
            <a:ext cx="452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Edge+cloud platform extending AWS to local devices. Key features: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 device discovery via Fleet Provisioning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Over-the-air firmware updates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Local ML inference at the edge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Built-in health monitoring with auto-restart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460500"/>
            <a:ext cx="4826000" cy="2222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1460500"/>
            <a:ext cx="4826000" cy="381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5842000" y="14605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IoT Hub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2014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67400" y="1930400"/>
            <a:ext cx="452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IoT device management with autonomic capabilities: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300"/>
              </a:spcBef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Device Twins: JSON representation auto-reconciled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Automatic bulk configuration updates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Azure IoT Edge: autonomous containerized workloads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Stream Analytics: real-time anomaly detection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460500"/>
            <a:ext cx="4826000" cy="2222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68000" y="1460500"/>
            <a:ext cx="4826000" cy="381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0" y="14605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Cloud IoT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2017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20400" y="1930400"/>
            <a:ext cx="452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Industry-leading AI and ML integration for IoT management: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TensorFlow Lite: on-device inference at the edge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Vertex AI: automated predictive maintenance models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Cloud Pub/Sub: autonomic message routing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Auto-scaling resources for fluctuating data volumes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937000"/>
            <a:ext cx="4826000" cy="2222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3937000"/>
            <a:ext cx="4826000" cy="381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" y="3937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IBM Watson IoT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2015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406900"/>
            <a:ext cx="452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platform with cognitive AI and autonomic roots: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Watson AI: pattern identification, corrective actions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Digital Twins: virtual models of physical assets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Rules engine for autonomous responses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Blockchain for tamper-proof audit trails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3937000"/>
            <a:ext cx="4826000" cy="2222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5000" y="3937000"/>
            <a:ext cx="4826000" cy="38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5842000" y="3937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FIWARE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Open Source, EU-backed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67400" y="4406900"/>
            <a:ext cx="452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smart city and public-sector applications: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NGSI-LD context broker: auto data subscriptions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Smart Data Models for agriculture, water, energy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open source — zero licensing cost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Ideal for resource-constrained deployments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3937000"/>
            <a:ext cx="4826000" cy="22225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68000" y="3937000"/>
            <a:ext cx="4826000" cy="38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795000" y="3937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Eclipse IoT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Open Source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20400" y="4406900"/>
            <a:ext cx="452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 open-source toolset for IoT: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Eclipse Ditto: digital twin management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Eclipse Kura: edge gateway autonomic management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Eclipse Hono: scalable IoT messaging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cost — perfect for developing nations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647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IBM Autonomic Maturity Model</a:t>
            </a:r>
            <a:endParaRPr lang="en-US" sz="16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762000" y="6921500"/>
          <a:ext cx="14732000" cy="165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Comparison &amp; Ethiopia Suitability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40640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3241040"/>
                <a:gridCol w="6187440"/>
              </a:tblGrid>
              <a:tr h="56972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Autonomic Strength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Edge Support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Ethiopia Suitability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823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AWS Greengrass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 (licensing cost barrier)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3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Azure IoT Hub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 (licensing cost barrier)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5823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Google Cloud IoT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 (licensing cost barrier)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3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IBM Watson IoT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 (enterprise cost)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5823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FIWARE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(open source, zero cost)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3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Eclipse IoT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(open source, zero cost)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5842000"/>
            <a:ext cx="14732000" cy="1397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8" name="Shape 5"/>
          <p:cNvSpPr/>
          <p:nvPr/>
        </p:nvSpPr>
        <p:spPr>
          <a:xfrm>
            <a:off x="1060450" y="6159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6"/>
          <p:cNvSpPr/>
          <p:nvPr/>
        </p:nvSpPr>
        <p:spPr>
          <a:xfrm>
            <a:off x="1498600" y="6032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98600" y="63754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FIWARE and Eclipse IoT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score highest for Ethiopia due to zero licensing costs and strong smart city/public sector alignment. Commercial platforms offer very high autonomic capabilities but face cost barriers.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742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Approach for Ethiopia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78486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Given financial constraints, the most pragmatic route runs through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open-source platforms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ThingsBoard Community for smart agriculture,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FIWARE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smart city and e-government IoT,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Eclipse IoT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industrial applications,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Node-RED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rapid prototyping and university training.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fzgsl2noyfos/mnt/agents/output/autonomic_iot/images/2_160_Addis_Ababa_Ethiopia_Office_Buildings.png">    </p:cNvPr>
          <p:cNvPicPr>
            <a:picLocks noChangeAspect="1"/>
          </p:cNvPicPr>
          <p:nvPr/>
        </p:nvPicPr>
        <p:blipFill>
          <a:blip r:embed="rId1"/>
          <a:srcRect l="0" r="0"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628">
                  <a:alpha val="91000"/>
                </a:srgbClr>
              </a:gs>
              <a:gs pos="50000">
                <a:srgbClr val="0A1628">
                  <a:alpha val="82000"/>
                </a:srgbClr>
              </a:gs>
              <a:gs pos="100000">
                <a:srgbClr val="0A1628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286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953000" y="3937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3000" y="4445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ETHIOPIA'S DIGITAL JOURNEY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5334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telecommunications monopoly to Digital Ethiopia 2025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3000" y="5969000"/>
            <a:ext cx="1270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Ethiopia at a Glance (2025)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3429000" cy="1778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625600"/>
            <a:ext cx="342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127M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87600"/>
            <a:ext cx="342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0" y="1498600"/>
            <a:ext cx="3429000" cy="1778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4445000" y="1625600"/>
            <a:ext cx="342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~26%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45000" y="2387600"/>
            <a:ext cx="342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Penetration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(up from &lt;1% in 2010)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1498600"/>
            <a:ext cx="3429000" cy="1778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0" y="1625600"/>
            <a:ext cx="3429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~60M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0" y="2387600"/>
            <a:ext cx="342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Subscribers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11000" y="1498600"/>
            <a:ext cx="3683000" cy="1778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0" y="1625600"/>
            <a:ext cx="368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11000" y="2387600"/>
            <a:ext cx="368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Data Centers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(EthioCloud)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355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Ethiopia's Remarkable Digital Transformation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038600"/>
            <a:ext cx="812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Starting from 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almost complete absence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telecommunications infrastructure in the early 1990s, Ethiopia has grown into one of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Africa's fastest-expanding ICT markets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Driven by government-led initiatives, strategic partnerships, and a young, technology-savvy population, the country has undergone remarkable transformation.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ICT strategy: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Ethiopia 2025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98000" y="355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Universities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98000" y="40386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Addis Ababa University (AAU)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Addis Ababa Science &amp; Technology University (AASTU)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Addis Ababa Institute of Technology (AAiT)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Bahir Dar University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with strong ICT and engineering programs driving national innovation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0" y="3556000"/>
            <a:ext cx="12700" cy="3048000"/>
          </a:xfrm>
          <a:prstGeom prst="rect">
            <a:avLst/>
          </a:prstGeom>
          <a:solidFill>
            <a:srgbClr val="D0D5DB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Ethiopia ICT Development Timeline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1651000"/>
            <a:ext cx="0" cy="6858000"/>
          </a:xfrm>
          <a:prstGeom prst="straightConnector1">
            <a:avLst/>
          </a:prstGeom>
          <a:noFill/>
          <a:ln w="25400">
            <a:solidFill>
              <a:srgbClr val="0B4F6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422400" y="1714500"/>
            <a:ext cx="203200" cy="203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" y="1689100"/>
            <a:ext cx="736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1990s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41500" y="1651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telecom monopoly. Internet access virtually nonexistent. Basic landlines confined to Addis Ababa.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2400" y="2603500"/>
            <a:ext cx="203200" cy="203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444500" y="2578100"/>
            <a:ext cx="9271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2001-05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41500" y="2540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ICTAD strategy launched. First ICT faculties at AAU and Adama University. IBM publishes autonomic manifesto globally.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22400" y="3492500"/>
            <a:ext cx="203200" cy="203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444500" y="3467100"/>
            <a:ext cx="9271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2005-10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41500" y="3429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e-Government initiative. EICTDA established. Mobile penetration grows. First national data center in Addis Ababa.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422400" y="4381500"/>
            <a:ext cx="203200" cy="203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7" name="Text 15"/>
          <p:cNvSpPr/>
          <p:nvPr/>
        </p:nvSpPr>
        <p:spPr>
          <a:xfrm>
            <a:off x="508000" y="4356100"/>
            <a:ext cx="863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2010-16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41500" y="4318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SchoolNet and WoredaNet projects. EthioCloud launched. Automated alerting in data centers (~Level 2 maturity).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22400" y="5270500"/>
            <a:ext cx="203200" cy="203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0" name="Text 18"/>
          <p:cNvSpPr/>
          <p:nvPr/>
        </p:nvSpPr>
        <p:spPr>
          <a:xfrm>
            <a:off x="444500" y="5245100"/>
            <a:ext cx="9271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2016-20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41500" y="5207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4G LTE rollout. IoT research at AAiT and Bahir Dar. Digital Ethiopia 2025 strategy launched. First IoT labs established.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422400" y="6159500"/>
            <a:ext cx="203200" cy="203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444500" y="6134100"/>
            <a:ext cx="9271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2022-25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41500" y="6096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Safaricom competition. 5G pilots in Addis Ababa. Smart city initiatives. AIOps at major banks. IoT courses at universities.</a:t>
            </a:r>
            <a:endParaRPr lang="en-US" sz="1600" dirty="0"/>
          </a:p>
        </p:txBody>
      </p:sp>
      <p:pic>
        <p:nvPicPr>
          <p:cNvPr id="25" name="Image 0" descr="https://kimi-img.moonshot.cn/pub/slides/okc/7fzgsl2noyfos/mnt/agents/output/autonomic_iot/images/7_Smart_City_Data_Network_Technology.png">    </p:cNvPr>
          <p:cNvPicPr>
            <a:picLocks noChangeAspect="1"/>
          </p:cNvPicPr>
          <p:nvPr/>
        </p:nvPicPr>
        <p:blipFill>
          <a:blip r:embed="rId1"/>
          <a:srcRect l="11513" r="11513" t="0" b="0"/>
          <a:stretch/>
        </p:blipFill>
        <p:spPr>
          <a:xfrm>
            <a:off x="8890000" y="1524000"/>
            <a:ext cx="6604000" cy="4826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890000" y="1524000"/>
            <a:ext cx="6604000" cy="4826000"/>
          </a:xfrm>
          <a:prstGeom prst="rect">
            <a:avLst/>
          </a:prstGeom>
          <a:gradFill rotWithShape="1" flip="none">
            <a:gsLst>
              <a:gs pos="0">
                <a:srgbClr val="F5F6F8">
                  <a:alpha val="88000"/>
                </a:srgbClr>
              </a:gs>
              <a:gs pos="30000">
                <a:srgbClr val="F5F6F8">
                  <a:alpha val="0"/>
                </a:srgbClr>
              </a:gs>
              <a:gs pos="100000">
                <a:srgbClr val="F5F6F8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8890000" y="6477000"/>
            <a:ext cx="6604000" cy="762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8" name="Text 25"/>
          <p:cNvSpPr/>
          <p:nvPr/>
        </p:nvSpPr>
        <p:spPr>
          <a:xfrm>
            <a:off x="9144000" y="6540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Status: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Ethiopia at approximately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2-3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autonomic maturity model, with rapid advancement toward Level 4.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in Ethiopia — Key Initiatives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Ethiopia's development challenges — food insecurity, limited healthcare, water scarcity, energy shortfalls — are precisely the problems IoT and autonomic computing are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 suited to address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OPPORTUNITY AREAS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94000"/>
            <a:ext cx="4699000" cy="1524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9" name="Shape 7"/>
          <p:cNvSpPr/>
          <p:nvPr/>
        </p:nvSpPr>
        <p:spPr>
          <a:xfrm>
            <a:off x="990600" y="2819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30200" y="20638"/>
                </a:moveTo>
                <a:cubicBezTo>
                  <a:pt x="330200" y="90354"/>
                  <a:pt x="280799" y="148526"/>
                  <a:pt x="215146" y="162133"/>
                </a:cubicBezTo>
                <a:cubicBezTo>
                  <a:pt x="210051" y="124663"/>
                  <a:pt x="193219" y="90934"/>
                  <a:pt x="168389" y="64815"/>
                </a:cubicBezTo>
                <a:cubicBezTo>
                  <a:pt x="194250" y="25797"/>
                  <a:pt x="238557" y="0"/>
                  <a:pt x="288925" y="0"/>
                </a:cubicBezTo>
                <a:lnTo>
                  <a:pt x="309563" y="0"/>
                </a:lnTo>
                <a:cubicBezTo>
                  <a:pt x="320978" y="0"/>
                  <a:pt x="330200" y="9222"/>
                  <a:pt x="330200" y="20638"/>
                </a:cubicBezTo>
                <a:close/>
                <a:moveTo>
                  <a:pt x="0" y="61912"/>
                </a:moveTo>
                <a:cubicBezTo>
                  <a:pt x="0" y="50497"/>
                  <a:pt x="9222" y="41275"/>
                  <a:pt x="20638" y="41275"/>
                </a:cubicBezTo>
                <a:lnTo>
                  <a:pt x="41275" y="41275"/>
                </a:lnTo>
                <a:cubicBezTo>
                  <a:pt x="121052" y="41275"/>
                  <a:pt x="185738" y="105961"/>
                  <a:pt x="185738" y="185738"/>
                </a:cubicBezTo>
                <a:lnTo>
                  <a:pt x="185738" y="309563"/>
                </a:lnTo>
                <a:cubicBezTo>
                  <a:pt x="185738" y="320978"/>
                  <a:pt x="176515" y="330200"/>
                  <a:pt x="165100" y="330200"/>
                </a:cubicBezTo>
                <a:cubicBezTo>
                  <a:pt x="153685" y="330200"/>
                  <a:pt x="144463" y="320978"/>
                  <a:pt x="144463" y="309563"/>
                </a:cubicBezTo>
                <a:lnTo>
                  <a:pt x="144463" y="206375"/>
                </a:lnTo>
                <a:cubicBezTo>
                  <a:pt x="64686" y="206375"/>
                  <a:pt x="0" y="141689"/>
                  <a:pt x="0" y="61912"/>
                </a:cubicBez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14224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Agriculture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175000"/>
            <a:ext cx="4254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 monitoring, automated irrigation, crop disease detection, livestock tracking.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 of population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employed in agriculture.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2794000"/>
            <a:ext cx="4699000" cy="1524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22963" y="28194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82550" y="41275"/>
                </a:moveTo>
                <a:cubicBezTo>
                  <a:pt x="82550" y="18509"/>
                  <a:pt x="101059" y="0"/>
                  <a:pt x="123825" y="0"/>
                </a:cubicBezTo>
                <a:lnTo>
                  <a:pt x="247650" y="0"/>
                </a:lnTo>
                <a:cubicBezTo>
                  <a:pt x="270416" y="0"/>
                  <a:pt x="288925" y="18509"/>
                  <a:pt x="288925" y="41275"/>
                </a:cubicBezTo>
                <a:lnTo>
                  <a:pt x="288925" y="82550"/>
                </a:lnTo>
                <a:lnTo>
                  <a:pt x="330200" y="82550"/>
                </a:lnTo>
                <a:cubicBezTo>
                  <a:pt x="352966" y="82550"/>
                  <a:pt x="371475" y="101059"/>
                  <a:pt x="371475" y="123825"/>
                </a:cubicBezTo>
                <a:lnTo>
                  <a:pt x="371475" y="288925"/>
                </a:lnTo>
                <a:cubicBezTo>
                  <a:pt x="371475" y="311691"/>
                  <a:pt x="352966" y="330200"/>
                  <a:pt x="330200" y="330200"/>
                </a:cubicBezTo>
                <a:lnTo>
                  <a:pt x="41275" y="330200"/>
                </a:lnTo>
                <a:cubicBezTo>
                  <a:pt x="18509" y="330200"/>
                  <a:pt x="0" y="311691"/>
                  <a:pt x="0" y="288925"/>
                </a:cubicBezTo>
                <a:lnTo>
                  <a:pt x="0" y="123825"/>
                </a:lnTo>
                <a:cubicBezTo>
                  <a:pt x="0" y="101059"/>
                  <a:pt x="18509" y="82550"/>
                  <a:pt x="41275" y="82550"/>
                </a:cubicBezTo>
                <a:lnTo>
                  <a:pt x="82550" y="82550"/>
                </a:lnTo>
                <a:lnTo>
                  <a:pt x="82550" y="41275"/>
                </a:lnTo>
                <a:close/>
                <a:moveTo>
                  <a:pt x="175419" y="227013"/>
                </a:moveTo>
                <a:cubicBezTo>
                  <a:pt x="164004" y="227013"/>
                  <a:pt x="154781" y="236235"/>
                  <a:pt x="154781" y="247650"/>
                </a:cubicBezTo>
                <a:lnTo>
                  <a:pt x="154781" y="299244"/>
                </a:lnTo>
                <a:lnTo>
                  <a:pt x="216694" y="299244"/>
                </a:lnTo>
                <a:lnTo>
                  <a:pt x="216694" y="247650"/>
                </a:lnTo>
                <a:cubicBezTo>
                  <a:pt x="216694" y="236235"/>
                  <a:pt x="207471" y="227013"/>
                  <a:pt x="196056" y="227013"/>
                </a:cubicBezTo>
                <a:lnTo>
                  <a:pt x="175419" y="227013"/>
                </a:lnTo>
                <a:close/>
                <a:moveTo>
                  <a:pt x="82550" y="237331"/>
                </a:moveTo>
                <a:lnTo>
                  <a:pt x="82550" y="216694"/>
                </a:lnTo>
                <a:cubicBezTo>
                  <a:pt x="82550" y="211018"/>
                  <a:pt x="77907" y="206375"/>
                  <a:pt x="72231" y="206375"/>
                </a:cubicBezTo>
                <a:lnTo>
                  <a:pt x="51594" y="206375"/>
                </a:lnTo>
                <a:cubicBezTo>
                  <a:pt x="45918" y="206375"/>
                  <a:pt x="41275" y="211018"/>
                  <a:pt x="41275" y="216694"/>
                </a:cubicBezTo>
                <a:lnTo>
                  <a:pt x="41275" y="237331"/>
                </a:lnTo>
                <a:cubicBezTo>
                  <a:pt x="41275" y="243007"/>
                  <a:pt x="45918" y="247650"/>
                  <a:pt x="51594" y="247650"/>
                </a:cubicBezTo>
                <a:lnTo>
                  <a:pt x="72231" y="247650"/>
                </a:lnTo>
                <a:cubicBezTo>
                  <a:pt x="77907" y="247650"/>
                  <a:pt x="82550" y="243007"/>
                  <a:pt x="82550" y="237331"/>
                </a:cubicBezTo>
                <a:close/>
                <a:moveTo>
                  <a:pt x="72231" y="165100"/>
                </a:moveTo>
                <a:cubicBezTo>
                  <a:pt x="77907" y="165100"/>
                  <a:pt x="82550" y="160457"/>
                  <a:pt x="82550" y="154781"/>
                </a:cubicBezTo>
                <a:lnTo>
                  <a:pt x="82550" y="134144"/>
                </a:lnTo>
                <a:cubicBezTo>
                  <a:pt x="82550" y="128468"/>
                  <a:pt x="77907" y="123825"/>
                  <a:pt x="72231" y="123825"/>
                </a:cubicBezTo>
                <a:lnTo>
                  <a:pt x="51594" y="123825"/>
                </a:lnTo>
                <a:cubicBezTo>
                  <a:pt x="45918" y="123825"/>
                  <a:pt x="41275" y="128468"/>
                  <a:pt x="41275" y="134144"/>
                </a:cubicBezTo>
                <a:lnTo>
                  <a:pt x="41275" y="154781"/>
                </a:lnTo>
                <a:cubicBezTo>
                  <a:pt x="41275" y="160457"/>
                  <a:pt x="45918" y="165100"/>
                  <a:pt x="51594" y="165100"/>
                </a:cubicBezTo>
                <a:lnTo>
                  <a:pt x="72231" y="165100"/>
                </a:lnTo>
                <a:close/>
                <a:moveTo>
                  <a:pt x="330200" y="237331"/>
                </a:moveTo>
                <a:lnTo>
                  <a:pt x="330200" y="216694"/>
                </a:lnTo>
                <a:cubicBezTo>
                  <a:pt x="330200" y="211018"/>
                  <a:pt x="325557" y="206375"/>
                  <a:pt x="319881" y="206375"/>
                </a:cubicBezTo>
                <a:lnTo>
                  <a:pt x="299244" y="206375"/>
                </a:lnTo>
                <a:cubicBezTo>
                  <a:pt x="293568" y="206375"/>
                  <a:pt x="288925" y="211018"/>
                  <a:pt x="288925" y="216694"/>
                </a:cubicBezTo>
                <a:lnTo>
                  <a:pt x="288925" y="237331"/>
                </a:lnTo>
                <a:cubicBezTo>
                  <a:pt x="288925" y="243007"/>
                  <a:pt x="293568" y="247650"/>
                  <a:pt x="299244" y="247650"/>
                </a:cubicBezTo>
                <a:lnTo>
                  <a:pt x="319881" y="247650"/>
                </a:lnTo>
                <a:cubicBezTo>
                  <a:pt x="325557" y="247650"/>
                  <a:pt x="330200" y="243007"/>
                  <a:pt x="330200" y="237331"/>
                </a:cubicBezTo>
                <a:close/>
                <a:moveTo>
                  <a:pt x="319881" y="165100"/>
                </a:moveTo>
                <a:cubicBezTo>
                  <a:pt x="325557" y="165100"/>
                  <a:pt x="330200" y="160457"/>
                  <a:pt x="330200" y="154781"/>
                </a:cubicBezTo>
                <a:lnTo>
                  <a:pt x="330200" y="134144"/>
                </a:lnTo>
                <a:cubicBezTo>
                  <a:pt x="330200" y="128468"/>
                  <a:pt x="325557" y="123825"/>
                  <a:pt x="319881" y="123825"/>
                </a:cubicBezTo>
                <a:lnTo>
                  <a:pt x="299244" y="123825"/>
                </a:lnTo>
                <a:cubicBezTo>
                  <a:pt x="293568" y="123825"/>
                  <a:pt x="288925" y="128468"/>
                  <a:pt x="288925" y="134144"/>
                </a:cubicBezTo>
                <a:lnTo>
                  <a:pt x="288925" y="154781"/>
                </a:lnTo>
                <a:cubicBezTo>
                  <a:pt x="288925" y="160457"/>
                  <a:pt x="293568" y="165100"/>
                  <a:pt x="299244" y="165100"/>
                </a:cubicBezTo>
                <a:lnTo>
                  <a:pt x="319881" y="165100"/>
                </a:lnTo>
                <a:close/>
                <a:moveTo>
                  <a:pt x="170259" y="67072"/>
                </a:moveTo>
                <a:lnTo>
                  <a:pt x="170259" y="87709"/>
                </a:lnTo>
                <a:lnTo>
                  <a:pt x="149622" y="87709"/>
                </a:lnTo>
                <a:cubicBezTo>
                  <a:pt x="143947" y="87709"/>
                  <a:pt x="139303" y="92353"/>
                  <a:pt x="139303" y="98028"/>
                </a:cubicBezTo>
                <a:lnTo>
                  <a:pt x="139303" y="108347"/>
                </a:lnTo>
                <a:cubicBezTo>
                  <a:pt x="139303" y="114022"/>
                  <a:pt x="143947" y="118666"/>
                  <a:pt x="149622" y="118666"/>
                </a:cubicBezTo>
                <a:lnTo>
                  <a:pt x="170259" y="118666"/>
                </a:lnTo>
                <a:lnTo>
                  <a:pt x="170259" y="139303"/>
                </a:lnTo>
                <a:cubicBezTo>
                  <a:pt x="170259" y="144978"/>
                  <a:pt x="174903" y="149622"/>
                  <a:pt x="180578" y="149622"/>
                </a:cubicBezTo>
                <a:lnTo>
                  <a:pt x="190897" y="149622"/>
                </a:lnTo>
                <a:cubicBezTo>
                  <a:pt x="196572" y="149622"/>
                  <a:pt x="201216" y="144978"/>
                  <a:pt x="201216" y="139303"/>
                </a:cubicBezTo>
                <a:lnTo>
                  <a:pt x="201216" y="118666"/>
                </a:lnTo>
                <a:lnTo>
                  <a:pt x="221853" y="118666"/>
                </a:lnTo>
                <a:cubicBezTo>
                  <a:pt x="227528" y="118666"/>
                  <a:pt x="232172" y="114022"/>
                  <a:pt x="232172" y="108347"/>
                </a:cubicBezTo>
                <a:lnTo>
                  <a:pt x="232172" y="98028"/>
                </a:lnTo>
                <a:cubicBezTo>
                  <a:pt x="232172" y="92353"/>
                  <a:pt x="227528" y="87709"/>
                  <a:pt x="221853" y="87709"/>
                </a:cubicBezTo>
                <a:lnTo>
                  <a:pt x="201216" y="87709"/>
                </a:lnTo>
                <a:lnTo>
                  <a:pt x="201216" y="67072"/>
                </a:lnTo>
                <a:cubicBezTo>
                  <a:pt x="201216" y="61397"/>
                  <a:pt x="196572" y="56753"/>
                  <a:pt x="190897" y="56753"/>
                </a:cubicBezTo>
                <a:lnTo>
                  <a:pt x="180578" y="56753"/>
                </a:lnTo>
                <a:cubicBezTo>
                  <a:pt x="174903" y="56753"/>
                  <a:pt x="170259" y="61397"/>
                  <a:pt x="170259" y="67072"/>
                </a:cubicBez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63754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Health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3175000"/>
            <a:ext cx="4254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patient monitoring, telemedicine, automated drug inventory in rural health centers.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2794000"/>
            <a:ext cx="4826000" cy="1524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17238" y="28194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218500" y="-6385"/>
                </a:moveTo>
                <a:cubicBezTo>
                  <a:pt x="226174" y="-838"/>
                  <a:pt x="229012" y="9222"/>
                  <a:pt x="225529" y="17993"/>
                </a:cubicBezTo>
                <a:lnTo>
                  <a:pt x="174967" y="144463"/>
                </a:lnTo>
                <a:lnTo>
                  <a:pt x="268288" y="144463"/>
                </a:lnTo>
                <a:cubicBezTo>
                  <a:pt x="276994" y="144463"/>
                  <a:pt x="284733" y="149880"/>
                  <a:pt x="287700" y="158070"/>
                </a:cubicBezTo>
                <a:cubicBezTo>
                  <a:pt x="290666" y="166261"/>
                  <a:pt x="288151" y="175419"/>
                  <a:pt x="281508" y="180965"/>
                </a:cubicBezTo>
                <a:lnTo>
                  <a:pt x="95771" y="335746"/>
                </a:lnTo>
                <a:cubicBezTo>
                  <a:pt x="88483" y="341809"/>
                  <a:pt x="78100" y="342131"/>
                  <a:pt x="70425" y="336585"/>
                </a:cubicBezTo>
                <a:cubicBezTo>
                  <a:pt x="62751" y="331038"/>
                  <a:pt x="59913" y="320978"/>
                  <a:pt x="63396" y="312207"/>
                </a:cubicBezTo>
                <a:lnTo>
                  <a:pt x="113958" y="185738"/>
                </a:lnTo>
                <a:lnTo>
                  <a:pt x="20638" y="185738"/>
                </a:lnTo>
                <a:cubicBezTo>
                  <a:pt x="11931" y="185738"/>
                  <a:pt x="4192" y="180320"/>
                  <a:pt x="1225" y="172130"/>
                </a:cubicBezTo>
                <a:cubicBezTo>
                  <a:pt x="-1741" y="163939"/>
                  <a:pt x="774" y="154781"/>
                  <a:pt x="7417" y="149235"/>
                </a:cubicBezTo>
                <a:lnTo>
                  <a:pt x="193154" y="-5546"/>
                </a:lnTo>
                <a:cubicBezTo>
                  <a:pt x="200442" y="-11609"/>
                  <a:pt x="210825" y="-11931"/>
                  <a:pt x="218500" y="-6385"/>
                </a:cubicBez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113284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Energy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96600" y="3175000"/>
            <a:ext cx="4381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metering, autonomous grid management, renewable energy optimization.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90%+ hydro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electricity.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381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INITIATIVES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800600"/>
            <a:ext cx="4699000" cy="1778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4902200"/>
            <a:ext cx="425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Agriculture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5232400"/>
            <a:ext cx="425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Oromia and Afar Regions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5524500"/>
            <a:ext cx="425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 moisture sensors, weather stations, automated irrigation controllers. Alerts go directly to farmers' phones.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4800600"/>
            <a:ext cx="4699000" cy="1778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4902200"/>
            <a:ext cx="425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Street Lighting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43600" y="5232400"/>
            <a:ext cx="425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Addis Ababa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43600" y="5524500"/>
            <a:ext cx="425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IoT-enabled smart LED systems adjusting brightness based on ambient light and motion.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40-60% energy reduction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668000" y="4800600"/>
            <a:ext cx="4826000" cy="1778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0" name="Text 28"/>
          <p:cNvSpPr/>
          <p:nvPr/>
        </p:nvSpPr>
        <p:spPr>
          <a:xfrm>
            <a:off x="10896600" y="4902200"/>
            <a:ext cx="438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Electricity Metering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96600" y="5232400"/>
            <a:ext cx="438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Addis Ababa (pilot phase)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96600" y="5524500"/>
            <a:ext cx="438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meters transmit consumption data autonomously. Detect unusual patterns, enable remote disconnect/reconnect.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685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CONNECTIVITY INFRASTRUCTURE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264400"/>
          <a:ext cx="14732000" cy="1270000"/>
        </p:xfrm>
        <a:graphic>
          <a:graphicData uri="http://schemas.openxmlformats.org/drawingml/2006/table">
            <a:tbl>
              <a:tblPr/>
              <a:tblGrid>
                <a:gridCol w="2946400"/>
                <a:gridCol w="5156200"/>
                <a:gridCol w="66294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IoT Relevance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4G LTE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Deployed in all major cities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Medium-range IoT data transmission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Pilot networks in Addis Ababa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Ultra-low-latency autonomic IoT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Platform Adoption in Ethiopia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Given the financial constraints of most Ethiopian deployments, platform selection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strongly favors open-source or low-cost options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Here's how different platforms are being adopted across sectors: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13000"/>
          <a:ext cx="14732000" cy="3937000"/>
        </p:xfrm>
        <a:graphic>
          <a:graphicData uri="http://schemas.openxmlformats.org/drawingml/2006/table">
            <a:tbl>
              <a:tblPr/>
              <a:tblGrid>
                <a:gridCol w="2651760"/>
                <a:gridCol w="3241040"/>
                <a:gridCol w="4419600"/>
                <a:gridCol w="44196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Advantage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ThingsBoard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Agriculture, Utilities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Pilot projects with built-in rule engine for autonomic alerts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Free, easy to deploy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FIWARE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Smart City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Smart city initiatives with open-source smart data models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 source, zero cost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AWS IoT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Banking, Enterprise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High-reliability enterprise deployments with cloud budgets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high autonomic strength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Azure IoT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Banking, Enterprise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Enterprise IoT with strong device management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high autonomic strength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Eclipse Mosquitto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Universities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Lightweight MQTT broker for research settings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Lightweight, free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6477000"/>
            <a:ext cx="14732000" cy="1016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9" name="Shape 6"/>
          <p:cNvSpPr/>
          <p:nvPr/>
        </p:nvSpPr>
        <p:spPr>
          <a:xfrm>
            <a:off x="990600" y="673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0B4F6C"/>
          </a:solidFill>
          <a:ln/>
        </p:spPr>
      </p:sp>
      <p:sp>
        <p:nvSpPr>
          <p:cNvPr id="10" name="Text 7"/>
          <p:cNvSpPr/>
          <p:nvPr/>
        </p:nvSpPr>
        <p:spPr>
          <a:xfrm>
            <a:off x="1422400" y="6604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Node-RED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also popular in Ethiopian startup environments for rapid IoT prototyping and visual workflow programming, making it an excellent tool for university training programs.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fzgsl2noyfos/mnt/agents/output/autonomic_iot/images/10_How_IoT_in_Agriculture_Is_Transform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628">
                  <a:alpha val="91000"/>
                </a:srgbClr>
              </a:gs>
              <a:gs pos="50000">
                <a:srgbClr val="0A1628">
                  <a:alpha val="82000"/>
                </a:srgbClr>
              </a:gs>
              <a:gs pos="100000">
                <a:srgbClr val="0A1628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88000" y="2286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953000" y="3937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3000" y="4445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FUTURE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5334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Addressing barriers while seizing opportunities for leapfrog development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3000" y="5969000"/>
            <a:ext cx="1270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Limitations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4699000" cy="4064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60500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CHALLENGES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1866900"/>
            <a:ext cx="4699000" cy="3937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1993900"/>
            <a:ext cx="4254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Unreliable electricity and internet in rural areas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Frequent power outages disrupt autonomous systems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IoT hardware costs relative to income levels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locally manufactured IoT equipment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Harsh field conditions: extreme heat, dust, humidity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Scaling from pilots to nationwide deployment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Fragmentation across IoT standards and platforms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460500"/>
            <a:ext cx="4699000" cy="4064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5778500" y="1460500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CAPITAL &amp; INSTITUTIONAL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1866900"/>
            <a:ext cx="4699000" cy="3937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3" name="Text 11"/>
          <p:cNvSpPr/>
          <p:nvPr/>
        </p:nvSpPr>
        <p:spPr>
          <a:xfrm>
            <a:off x="6007100" y="1993900"/>
            <a:ext cx="4254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Small pool of engineers with deep expertise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Brain drain: skilled IT professionals relocating abroad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Severely constrained university research budgets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Incomplete IoT regulations (data privacy, security)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Long-term dependence on foreign platforms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Digital sovereignty concerns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460500"/>
            <a:ext cx="4699000" cy="4064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0" y="1460500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 CHALLENGES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1866900"/>
            <a:ext cx="4699000" cy="3937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7" name="Text 15"/>
          <p:cNvSpPr/>
          <p:nvPr/>
        </p:nvSpPr>
        <p:spPr>
          <a:xfrm>
            <a:off x="11023600" y="1993900"/>
            <a:ext cx="42545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Autonomic systems inherently harder to secure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Compromised managers act at scale before detection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Small cybersecurity workforce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Factory-default passwords on field devices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Unencrypted communications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Limited incident response capacity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096000"/>
            <a:ext cx="14732000" cy="1016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159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Insight: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challenges are interconnected. Addressing technical barriers requires human capital investment. Building human capital requires institutional support. Strengthening institutions requires policy frameworks.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holistic approach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essential.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Opportunities &amp; Future Directions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4699000" cy="3302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200" dirty="0">
                <a:solidFill>
                  <a:srgbClr val="0B4F6C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2540000"/>
            <a:ext cx="425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Leapfrogging with Autonomic IoT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2921000"/>
            <a:ext cx="425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Skip older tech generations and adopt modern autonomic IoT directly — like Africa leapfrogged fixed-line to mobile. Precision farming without decades of conventional irrigation. Smart grids built from scratch.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1460500"/>
            <a:ext cx="4699000" cy="3302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2" name="Text 10"/>
          <p:cNvSpPr/>
          <p:nvPr/>
        </p:nvSpPr>
        <p:spPr>
          <a:xfrm>
            <a:off x="5778500" y="15240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200" dirty="0">
                <a:solidFill>
                  <a:srgbClr val="0B4F6C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71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6007100" y="2540000"/>
            <a:ext cx="425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Machine Learning Integration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07100" y="2921000"/>
            <a:ext cx="425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AI goes beyond rule-based MAPE-K: natural language policies, generative AI remediation, reinforcement learning. iCog Labs, AAU, AASTU positioned to develop AI for Ethiopian languages and conditions.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1460500"/>
            <a:ext cx="4699000" cy="3302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0" y="15240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200" dirty="0">
                <a:solidFill>
                  <a:srgbClr val="0B4F6C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01375" y="2133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1394" y="6806"/>
                </a:moveTo>
                <a:cubicBezTo>
                  <a:pt x="32851" y="3334"/>
                  <a:pt x="23128" y="7431"/>
                  <a:pt x="19725" y="15974"/>
                </a:cubicBezTo>
                <a:cubicBezTo>
                  <a:pt x="10557" y="38546"/>
                  <a:pt x="5556" y="63133"/>
                  <a:pt x="5556" y="88900"/>
                </a:cubicBezTo>
                <a:cubicBezTo>
                  <a:pt x="5556" y="114667"/>
                  <a:pt x="10557" y="139254"/>
                  <a:pt x="19725" y="161826"/>
                </a:cubicBezTo>
                <a:cubicBezTo>
                  <a:pt x="23197" y="170369"/>
                  <a:pt x="32921" y="174466"/>
                  <a:pt x="41464" y="170994"/>
                </a:cubicBezTo>
                <a:cubicBezTo>
                  <a:pt x="50006" y="167521"/>
                  <a:pt x="54104" y="157798"/>
                  <a:pt x="50631" y="149255"/>
                </a:cubicBezTo>
                <a:cubicBezTo>
                  <a:pt x="43061" y="130711"/>
                  <a:pt x="38894" y="110292"/>
                  <a:pt x="38894" y="88900"/>
                </a:cubicBezTo>
                <a:cubicBezTo>
                  <a:pt x="38894" y="67508"/>
                  <a:pt x="43061" y="47089"/>
                  <a:pt x="50631" y="28476"/>
                </a:cubicBezTo>
                <a:cubicBezTo>
                  <a:pt x="54104" y="19933"/>
                  <a:pt x="49937" y="10210"/>
                  <a:pt x="41464" y="6737"/>
                </a:cubicBezTo>
                <a:close/>
                <a:moveTo>
                  <a:pt x="358656" y="6806"/>
                </a:moveTo>
                <a:cubicBezTo>
                  <a:pt x="350113" y="10279"/>
                  <a:pt x="346015" y="20003"/>
                  <a:pt x="349488" y="28545"/>
                </a:cubicBezTo>
                <a:cubicBezTo>
                  <a:pt x="357059" y="47159"/>
                  <a:pt x="361226" y="67578"/>
                  <a:pt x="361226" y="88969"/>
                </a:cubicBezTo>
                <a:cubicBezTo>
                  <a:pt x="361226" y="110361"/>
                  <a:pt x="357059" y="130780"/>
                  <a:pt x="349488" y="149394"/>
                </a:cubicBezTo>
                <a:cubicBezTo>
                  <a:pt x="346015" y="157936"/>
                  <a:pt x="350183" y="167660"/>
                  <a:pt x="358656" y="171133"/>
                </a:cubicBezTo>
                <a:cubicBezTo>
                  <a:pt x="367129" y="174605"/>
                  <a:pt x="376922" y="170438"/>
                  <a:pt x="380395" y="161965"/>
                </a:cubicBezTo>
                <a:cubicBezTo>
                  <a:pt x="389493" y="139392"/>
                  <a:pt x="394563" y="114806"/>
                  <a:pt x="394563" y="89039"/>
                </a:cubicBezTo>
                <a:cubicBezTo>
                  <a:pt x="394563" y="63272"/>
                  <a:pt x="389563" y="38685"/>
                  <a:pt x="380395" y="16113"/>
                </a:cubicBezTo>
                <a:cubicBezTo>
                  <a:pt x="376922" y="7570"/>
                  <a:pt x="367199" y="3473"/>
                  <a:pt x="358656" y="6945"/>
                </a:cubicBezTo>
                <a:close/>
                <a:moveTo>
                  <a:pt x="236210" y="114737"/>
                </a:moveTo>
                <a:cubicBezTo>
                  <a:pt x="241419" y="107444"/>
                  <a:pt x="244475" y="98554"/>
                  <a:pt x="244475" y="88900"/>
                </a:cubicBezTo>
                <a:cubicBezTo>
                  <a:pt x="244475" y="64383"/>
                  <a:pt x="224542" y="44450"/>
                  <a:pt x="200025" y="44450"/>
                </a:cubicBezTo>
                <a:cubicBezTo>
                  <a:pt x="175508" y="44450"/>
                  <a:pt x="155575" y="64383"/>
                  <a:pt x="155575" y="88900"/>
                </a:cubicBezTo>
                <a:cubicBezTo>
                  <a:pt x="155575" y="98554"/>
                  <a:pt x="158631" y="107444"/>
                  <a:pt x="163840" y="114737"/>
                </a:cubicBezTo>
                <a:lnTo>
                  <a:pt x="68689" y="324207"/>
                </a:lnTo>
                <a:cubicBezTo>
                  <a:pt x="63619" y="335389"/>
                  <a:pt x="68550" y="348585"/>
                  <a:pt x="79732" y="353655"/>
                </a:cubicBezTo>
                <a:cubicBezTo>
                  <a:pt x="90914" y="358725"/>
                  <a:pt x="104110" y="353794"/>
                  <a:pt x="109180" y="342612"/>
                </a:cubicBezTo>
                <a:lnTo>
                  <a:pt x="123488" y="311219"/>
                </a:lnTo>
                <a:lnTo>
                  <a:pt x="276701" y="311219"/>
                </a:lnTo>
                <a:lnTo>
                  <a:pt x="291009" y="342612"/>
                </a:lnTo>
                <a:cubicBezTo>
                  <a:pt x="296079" y="353794"/>
                  <a:pt x="309275" y="358725"/>
                  <a:pt x="320457" y="353655"/>
                </a:cubicBezTo>
                <a:cubicBezTo>
                  <a:pt x="331639" y="348585"/>
                  <a:pt x="336570" y="335389"/>
                  <a:pt x="331500" y="324207"/>
                </a:cubicBezTo>
                <a:lnTo>
                  <a:pt x="236210" y="114737"/>
                </a:lnTo>
                <a:close/>
                <a:moveTo>
                  <a:pt x="261491" y="277813"/>
                </a:moveTo>
                <a:lnTo>
                  <a:pt x="138559" y="277813"/>
                </a:lnTo>
                <a:lnTo>
                  <a:pt x="153700" y="244475"/>
                </a:lnTo>
                <a:lnTo>
                  <a:pt x="246281" y="244475"/>
                </a:lnTo>
                <a:lnTo>
                  <a:pt x="261422" y="277813"/>
                </a:lnTo>
                <a:close/>
                <a:moveTo>
                  <a:pt x="200025" y="142587"/>
                </a:moveTo>
                <a:lnTo>
                  <a:pt x="231140" y="211138"/>
                </a:lnTo>
                <a:lnTo>
                  <a:pt x="168841" y="211138"/>
                </a:lnTo>
                <a:lnTo>
                  <a:pt x="199956" y="142587"/>
                </a:lnTo>
                <a:close/>
                <a:moveTo>
                  <a:pt x="113417" y="51117"/>
                </a:moveTo>
                <a:cubicBezTo>
                  <a:pt x="117098" y="42714"/>
                  <a:pt x="113278" y="32851"/>
                  <a:pt x="104805" y="29170"/>
                </a:cubicBezTo>
                <a:cubicBezTo>
                  <a:pt x="96331" y="25489"/>
                  <a:pt x="86539" y="29309"/>
                  <a:pt x="82858" y="37782"/>
                </a:cubicBezTo>
                <a:cubicBezTo>
                  <a:pt x="76051" y="53479"/>
                  <a:pt x="72231" y="70773"/>
                  <a:pt x="72231" y="88900"/>
                </a:cubicBezTo>
                <a:cubicBezTo>
                  <a:pt x="72231" y="107027"/>
                  <a:pt x="76051" y="124321"/>
                  <a:pt x="82858" y="140017"/>
                </a:cubicBezTo>
                <a:cubicBezTo>
                  <a:pt x="86539" y="148421"/>
                  <a:pt x="96401" y="152311"/>
                  <a:pt x="104805" y="148630"/>
                </a:cubicBezTo>
                <a:cubicBezTo>
                  <a:pt x="113209" y="144949"/>
                  <a:pt x="117098" y="135086"/>
                  <a:pt x="113417" y="126683"/>
                </a:cubicBezTo>
                <a:cubicBezTo>
                  <a:pt x="108347" y="115153"/>
                  <a:pt x="105569" y="102374"/>
                  <a:pt x="105569" y="88900"/>
                </a:cubicBezTo>
                <a:cubicBezTo>
                  <a:pt x="105569" y="75426"/>
                  <a:pt x="108347" y="62647"/>
                  <a:pt x="113417" y="51117"/>
                </a:cubicBezTo>
                <a:close/>
                <a:moveTo>
                  <a:pt x="317192" y="37783"/>
                </a:moveTo>
                <a:cubicBezTo>
                  <a:pt x="313511" y="29379"/>
                  <a:pt x="303649" y="25489"/>
                  <a:pt x="295245" y="29170"/>
                </a:cubicBezTo>
                <a:cubicBezTo>
                  <a:pt x="286841" y="32851"/>
                  <a:pt x="282952" y="42714"/>
                  <a:pt x="286633" y="51117"/>
                </a:cubicBezTo>
                <a:cubicBezTo>
                  <a:pt x="291703" y="62647"/>
                  <a:pt x="294481" y="75426"/>
                  <a:pt x="294481" y="88900"/>
                </a:cubicBezTo>
                <a:cubicBezTo>
                  <a:pt x="294481" y="102374"/>
                  <a:pt x="291703" y="115153"/>
                  <a:pt x="286633" y="126683"/>
                </a:cubicBezTo>
                <a:cubicBezTo>
                  <a:pt x="282952" y="135086"/>
                  <a:pt x="286772" y="144949"/>
                  <a:pt x="295245" y="148630"/>
                </a:cubicBezTo>
                <a:cubicBezTo>
                  <a:pt x="303719" y="152311"/>
                  <a:pt x="313511" y="148491"/>
                  <a:pt x="317192" y="140017"/>
                </a:cubicBezTo>
                <a:cubicBezTo>
                  <a:pt x="323999" y="124321"/>
                  <a:pt x="327819" y="107027"/>
                  <a:pt x="327819" y="88900"/>
                </a:cubicBezTo>
                <a:cubicBezTo>
                  <a:pt x="327819" y="70773"/>
                  <a:pt x="323999" y="53479"/>
                  <a:pt x="317192" y="3778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23600" y="2540000"/>
            <a:ext cx="425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5G, Open Source &amp; Regional Leadership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23600" y="2921000"/>
            <a:ext cx="425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5G rollout enables sub-millisecond edge computing. Open-source platforms eliminate cost barriers. Ethiopia can take regional leadership through AU Digital Transformation Strategy 2020-2030.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080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Technology Convergence</a:t>
            </a:r>
            <a:endParaRPr lang="en-US" sz="16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62000" y="5524500"/>
          <a:ext cx="7112000" cy="292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8382000" y="5524500"/>
            <a:ext cx="7112000" cy="2921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4" name="Text 21"/>
          <p:cNvSpPr/>
          <p:nvPr/>
        </p:nvSpPr>
        <p:spPr>
          <a:xfrm>
            <a:off x="8636000" y="56515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 TO 2030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36000" y="60706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2025-2027: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Scale pilot projects, establish certification centers, expand 5G to secondary cities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2027-2029: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 autonomic systems nationally, build regional partnerships, develop local AI models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2029-2030: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Achieve Level 4 autonomic maturity, become regional innovation hub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Studies — Real-World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4699000" cy="5080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60500"/>
            <a:ext cx="4699000" cy="38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4605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1: AUTONOMOUS IRRIGATION | OROMIA, 2022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1968500"/>
            <a:ext cx="425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Upper Awash Agricultural Enterprise deployed autonomous irrigation across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hectares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sensors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LoRaWAN + ThingsBoard.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330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810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Saved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76500" y="330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76500" y="3810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Gain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62400" y="330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62400" y="3810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Labor Drop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4318000"/>
            <a:ext cx="425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Demonstrated all four self-managing properties. Attracted interest from other regional enterprises.</a:t>
            </a:r>
            <a:endParaRPr lang="en-US" sz="1600" dirty="0"/>
          </a:p>
        </p:txBody>
      </p:sp>
      <p:pic>
        <p:nvPicPr>
          <p:cNvPr id="17" name="Image 0" descr="https://kimi-img.moonshot.cn/pub/slides/okc/7fzgsl2noyfos/mnt/agents/output/autonomic_iot/images/4_Smart_Farming_IoT_Sensors_PROLIM.png">    </p:cNvPr>
          <p:cNvPicPr>
            <a:picLocks noChangeAspect="1"/>
          </p:cNvPicPr>
          <p:nvPr/>
        </p:nvPicPr>
        <p:blipFill>
          <a:blip r:embed="rId1"/>
          <a:srcRect l="0" r="0" t="25124" b="25124"/>
          <a:stretch/>
        </p:blipFill>
        <p:spPr>
          <a:xfrm>
            <a:off x="990600" y="5080000"/>
            <a:ext cx="4254500" cy="1270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778500" y="1460500"/>
            <a:ext cx="4699000" cy="5080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19" name="Shape 16"/>
          <p:cNvSpPr/>
          <p:nvPr/>
        </p:nvSpPr>
        <p:spPr>
          <a:xfrm>
            <a:off x="5778500" y="1460500"/>
            <a:ext cx="4699000" cy="38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0" name="Text 17"/>
          <p:cNvSpPr/>
          <p:nvPr/>
        </p:nvSpPr>
        <p:spPr>
          <a:xfrm>
            <a:off x="5778500" y="14605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2: AIOps AT CBE | 2023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07100" y="2006600"/>
            <a:ext cx="425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Bank of Ethiopia —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1,700 branches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deployed AIOps for automated anomaly detection with self-healing middleware.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007100" y="33020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99.5%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007100" y="3810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93000" y="330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8min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93000" y="3810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Recovery Time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978900" y="330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1.7K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978900" y="3810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Branches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007100" y="4318000"/>
            <a:ext cx="425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Availability: 97.8% to 99.5%. Recovery: 45min to 8min. A core competitive advantage.</a:t>
            </a:r>
            <a:endParaRPr lang="en-US" sz="1600" dirty="0"/>
          </a:p>
        </p:txBody>
      </p:sp>
      <p:pic>
        <p:nvPicPr>
          <p:cNvPr id="29" name="Image 1" descr="https://kimi-img.moonshot.cn/pub/slides/okc/7fzgsl2noyfos/mnt/agents/output/autonomic_iot/images/9_Free_Server_room_hallway_Image_Technology.png">    </p:cNvPr>
          <p:cNvPicPr>
            <a:picLocks noChangeAspect="1"/>
          </p:cNvPicPr>
          <p:nvPr/>
        </p:nvPicPr>
        <p:blipFill>
          <a:blip r:embed="rId2"/>
          <a:srcRect l="0" r="0" t="35075" b="35075"/>
          <a:stretch/>
        </p:blipFill>
        <p:spPr>
          <a:xfrm>
            <a:off x="6007100" y="5080000"/>
            <a:ext cx="4254500" cy="12700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10795000" y="1460500"/>
            <a:ext cx="4699000" cy="5080000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31" name="Shape 27"/>
          <p:cNvSpPr/>
          <p:nvPr/>
        </p:nvSpPr>
        <p:spPr>
          <a:xfrm>
            <a:off x="10795000" y="1460500"/>
            <a:ext cx="4699000" cy="38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2" name="Text 28"/>
          <p:cNvSpPr/>
          <p:nvPr/>
        </p:nvSpPr>
        <p:spPr>
          <a:xfrm>
            <a:off x="10795000" y="14605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3: SMART STREET LIGHTING | BOLE, 2023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023600" y="2006600"/>
            <a:ext cx="425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Addis Ababa City Administration piloted autonomous street lighting in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Bole sub-city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covering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1,200 light points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4G.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1023600" y="330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48%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1023600" y="3810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Saved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12509500" y="330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4hr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12509500" y="3810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 Time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13995400" y="330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1.2K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13995400" y="3810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 Points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11023600" y="42545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 response fell from 72 hours to 4 hours. City planning expansion to all 10 sub-cities.</a:t>
            </a:r>
            <a:endParaRPr lang="en-US" sz="1600" dirty="0"/>
          </a:p>
        </p:txBody>
      </p:sp>
      <p:pic>
        <p:nvPicPr>
          <p:cNvPr id="41" name="Image 2" descr="https://kimi-img.moonshot.cn/pub/slides/okc/7fzgsl2noyfos/mnt/agents/output/autonomic_iot/images/6_Smart_City_Iot_Network_and_Cloud.png">    </p:cNvPr>
          <p:cNvPicPr>
            <a:picLocks noChangeAspect="1"/>
          </p:cNvPicPr>
          <p:nvPr/>
        </p:nvPicPr>
        <p:blipFill>
          <a:blip r:embed="rId3"/>
          <a:srcRect l="0" r="0" t="27598" b="27598"/>
          <a:stretch/>
        </p:blipFill>
        <p:spPr>
          <a:xfrm>
            <a:off x="11023600" y="5080000"/>
            <a:ext cx="4254500" cy="127000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&amp; FOUNDATIONS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MAPE-K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PLATFORMS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ETHIOPIA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0B4F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2192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60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Autonomic computing represents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 shift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managing complex digital systems. The integration of MAPE-K and self-managing properties into IoT platforms has been transformative. For Ethiopia, these are not abstract concepts — they are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tools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tackling the country's most important development challenges.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819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SEVEN RECOMMENDATIONS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3020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302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32766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Prioritize open-source IoT platforms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(ThingsBoard, FIWARE, Eclipse)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8100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810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0000" y="37846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National IoT Testing and Certification Centre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180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318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42926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 in ICT education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dedicated autonomic computing tracks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3020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3302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0" y="32766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startup incentives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(tax breaks, innovation grants)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38100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3810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0000" y="37846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Strengthen cybersecurity frameworks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autonomic systems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43180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4318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90000" y="42926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Accelerate 5G rollout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beyond Addis Ababa to agricultural regions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826000"/>
            <a:ext cx="355600" cy="3556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4826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70000" y="4800600"/>
            <a:ext cx="1422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regional partnerships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African Union and East African Community for harmonized IoT standards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461000"/>
            <a:ext cx="14732000" cy="13335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0" name="Shape 28"/>
          <p:cNvSpPr/>
          <p:nvPr/>
        </p:nvSpPr>
        <p:spPr>
          <a:xfrm>
            <a:off x="990600" y="5778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1587500" y="5588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THOUGHT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87500" y="5969000"/>
            <a:ext cx="1358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Ethiopia stands at a genuine inflection point. With the right investments in infrastructure, education, and policy, the country can move from being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consumer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autonomic technologies to becoming an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innovator and regional leader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self-managing, intelligent digital systems.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882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AAU | CTBE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986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fzgsl2noyfos/mnt/agents/output/autonomic_iot/images/1_1_704_Futuristic_Abstract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628">
                  <a:alpha val="94000"/>
                </a:srgbClr>
              </a:gs>
              <a:gs pos="50000">
                <a:srgbClr val="0A1628">
                  <a:alpha val="85000"/>
                </a:srgbClr>
              </a:gs>
              <a:gs pos="100000">
                <a:srgbClr val="0A1628">
                  <a:alpha val="69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540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368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i="1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complexity of IT systems has grown to the point where we risk losing control of them. Autonomic computing is the answer."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88000" y="482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Paul Horn, IBM Research Director, 2001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3000" y="5461000"/>
            <a:ext cx="127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57785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500" b="1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3</a:t>
            </a:r>
            <a:pPr algn="ctr">
              <a:lnSpc>
                <a:spcPct val="180000"/>
              </a:lnSpc>
            </a:pPr>
            <a:r>
              <a:rPr lang="en-US" sz="150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Instructor: </a:t>
            </a:r>
            <a:pPr algn="ctr">
              <a:lnSpc>
                <a:spcPct val="180000"/>
              </a:lnSpc>
            </a:pPr>
            <a:r>
              <a:rPr lang="en-US" sz="1500" b="1" dirty="0">
                <a:solidFill>
                  <a:srgbClr val="B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Mr. Hafte Abera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50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Addis Ababa University | College of Technology and Built Environment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500" dirty="0">
                <a:solidFill>
                  <a:srgbClr val="8A9B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Autonomic Computing &amp; Internet of Things | May 2026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88000" y="723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spc="800" kern="0" dirty="0">
                <a:solidFill>
                  <a:srgbClr val="FFFFFF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AAU | CTBE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Autonomic Computing &amp; Internet of Things</dc:title>
  <dc:subject>Autonomic Computing &amp; Internet of Things</dc:subject>
  <dc:creator>Kimi</dc:creator>
  <cp:lastModifiedBy>Kimi</cp:lastModifiedBy>
  <cp:revision>1</cp:revision>
  <dcterms:created xsi:type="dcterms:W3CDTF">2026-05-13T16:37:38Z</dcterms:created>
  <dcterms:modified xsi:type="dcterms:W3CDTF">2026-05-13T16:37:38Z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{"Label":"Autonomic Computing &amp; Internet of Things","ContentProducer":"001191110108MACG2KBH8F10000","ProduceID":"19e22139-afb2-8fda-8000-0000de5ff7fb","ReservedCode1":"","ContentPropagator":"001191110108MACG2KBH8F20000","PropagateID":"19e22139-afb2-8fda-8000-0000de5ff7fb","ReservedCode2":""}</vt:lpwstr>
  </property>
</Properties>
</file>